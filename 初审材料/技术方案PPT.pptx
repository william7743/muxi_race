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8FB4E8"/>
                </a:solidFill>
                <a:latin typeface="PingFang SC"/>
              </a:rPr>
              <a:t>赛题一 XH-202608</a:t>
            </a:r>
          </a:p>
          <a:p>
            <a:r>
              <a:rPr sz="4000" b="1">
                <a:solidFill>
                  <a:srgbClr val="FFFFFF"/>
                </a:solidFill>
                <a:latin typeface="PingFang SC"/>
              </a:rPr>
              <a:t>基于国产软件栈的大模型推理算子优化</a:t>
            </a:r>
          </a:p>
          <a:p>
            <a:r>
              <a:rPr sz="2000" b="0">
                <a:solidFill>
                  <a:srgbClr val="C8D8F0"/>
                </a:solidFill>
                <a:latin typeface="PingFang SC"/>
              </a:rPr>
              <a:t>Fused MoE GEMM（SwiGLU MoE 前向）· TileLang on 沐曦 C500</a:t>
            </a:r>
          </a:p>
          <a:p>
            <a:r>
              <a:rPr sz="1700" b="1">
                <a:solidFill>
                  <a:srgbClr val="6EE7B7"/>
                </a:solidFill>
                <a:latin typeface="PingFang SC"/>
              </a:rPr>
              <a:t>XPU-OJ 最终成绩：78.67 分（Accepted 135985）· 三 case 最高加速 4.03×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4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结果概述：三 case 全部 78+ 分档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PingFang SC"/>
              </a:rPr>
              <a:t>XPU-OJ 提交 135985 · Accepted · rank 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本方案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加速比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得分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E16 / H2048 / I8192 / T2272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11.251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2.789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4.03×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80.14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E32 / H7168 / I2048 / T4544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18.610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5.065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3.67×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78.61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E64 / H7168 / I2048 / T9088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35.875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9.681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3.71×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78.75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2E"/>
                </a:solidFill>
                <a:latin typeface="PingFang SC"/>
              </a:rPr>
              <a:t>评测口径：XPU-OJ 标准环境（C500 / MACA 3.7.1.5 / tilelang-metax v0.1.10 / PyTorch 2.8.0+metax）</a:t>
            </a:r>
          </a:p>
          <a:p>
            <a:r>
              <a:rPr sz="1500" b="0">
                <a:solidFill>
                  <a:srgbClr val="1A1A2E"/>
                </a:solidFill>
                <a:latin typeface="PingFang SC"/>
              </a:rPr>
              <a:t>计时：warmup 10 + 100 迭代平均；baseline 固定复用。三 case 全部 Pass。</a:t>
            </a:r>
          </a:p>
          <a:p>
            <a:r>
              <a:rPr sz="1500" b="1">
                <a:solidFill>
                  <a:srgbClr val="0E7A5F"/>
                </a:solidFill>
                <a:latin typeface="PingFang SC"/>
              </a:rPr>
              <a:t>全部 GPU 计算由 TileLang T.gemm / T.copy 生成 —— 对照官方八条禁令逐项静态审计通过。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4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总体架构：双 Kernel 数据流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PingFang SC"/>
              </a:rPr>
              <a:t>Stage1 融合 GEMM+SwiGLU → Stage2 down GEMM×routed_weight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1188720"/>
          </a:xfrm>
          <a:prstGeom prst="rect">
            <a:avLst/>
          </a:prstGeom>
          <a:solidFill>
            <a:srgbClr val="444444"/>
          </a:solidFill>
          <a:ln>
            <a:solidFill>
              <a:srgbClr val="245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输入</a:t>
            </a:r>
          </a:p>
          <a:p>
            <a:r>
              <a:rPr sz="1200" b="0">
                <a:solidFill>
                  <a:srgbClr val="FFFFFF"/>
                </a:solidFill>
                <a:latin typeface="PingFang SC"/>
              </a:rPr>
              <a:t>stacked_expert_tokens（padded 布局）</a:t>
            </a:r>
          </a:p>
          <a:p>
            <a:r>
              <a:rPr sz="1200" b="0">
                <a:solidFill>
                  <a:srgbClr val="FFFFFF"/>
                </a:solidFill>
                <a:latin typeface="PingFang SC"/>
              </a:rPr>
              <a:t>gate_w / up_w / down_w / routed_weight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5029200" cy="2011680"/>
          </a:xfrm>
          <a:prstGeom prst="rect">
            <a:avLst/>
          </a:prstGeom>
          <a:solidFill>
            <a:srgbClr val="2456A4"/>
          </a:solidFill>
          <a:ln>
            <a:solidFill>
              <a:srgbClr val="245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Stage1  M128×N128×K64 · 256 线程</a:t>
            </a:r>
          </a:p>
          <a:p>
            <a:r>
              <a:rPr sz="1200" b="0">
                <a:solidFill>
                  <a:srgbClr val="FFFFFF"/>
                </a:solidFill>
                <a:latin typeface="PingFang SC"/>
              </a:rPr>
              <a:t>gate/up 融合双累加器 GEMM（A 走 shared）</a:t>
            </a:r>
          </a:p>
          <a:p>
            <a:r>
              <a:rPr sz="1200" b="0">
                <a:solidFill>
                  <a:srgbClr val="FFFFFF"/>
                </a:solidFill>
                <a:latin typeface="PingFang SC"/>
              </a:rPr>
              <a:t>Up 权重同步寄存器预取（延迟被 Gate MMA 覆盖）</a:t>
            </a:r>
          </a:p>
          <a:p>
            <a:r>
              <a:rPr sz="1200" b="0">
                <a:solidFill>
                  <a:srgbClr val="FFFFFF"/>
                </a:solidFill>
                <a:latin typeface="PingFang SC"/>
              </a:rPr>
              <a:t>epilogue 融合 SwiGLU → up_logits (fp16)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3017520"/>
            <a:ext cx="5029200" cy="2011680"/>
          </a:xfrm>
          <a:prstGeom prst="rect">
            <a:avLst/>
          </a:prstGeom>
          <a:solidFill>
            <a:srgbClr val="0E7A5F"/>
          </a:solidFill>
          <a:ln>
            <a:solidFill>
              <a:srgbClr val="245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Stage2  M128×N128×K64 · 256 线程</a:t>
            </a:r>
          </a:p>
          <a:p>
            <a:r>
              <a:rPr sz="1200" b="0">
                <a:solidFill>
                  <a:srgbClr val="FFFFFF"/>
                </a:solidFill>
                <a:latin typeface="PingFang SC"/>
              </a:rPr>
              <a:t>down GEMM × routed_weight</a:t>
            </a:r>
          </a:p>
          <a:p>
            <a:r>
              <a:rPr sz="1200" b="0">
                <a:solidFill>
                  <a:srgbClr val="FFFFFF"/>
                </a:solidFill>
                <a:latin typeface="PingFang SC"/>
              </a:rPr>
              <a:t>尾块逐行谓词 + padding 行显式清 0</a:t>
            </a:r>
          </a:p>
          <a:p>
            <a:r>
              <a:rPr sz="1200" b="0">
                <a:solidFill>
                  <a:srgbClr val="FFFFFF"/>
                </a:solidFill>
                <a:latin typeface="PingFang SC"/>
              </a:rPr>
              <a:t>full-block 无分支快速路径</a:t>
            </a:r>
          </a:p>
        </p:txBody>
      </p:sp>
      <p:sp>
        <p:nvSpPr>
          <p:cNvPr id="8" name="Can 7"/>
          <p:cNvSpPr/>
          <p:nvPr/>
        </p:nvSpPr>
        <p:spPr>
          <a:xfrm>
            <a:off x="2834640" y="2697480"/>
            <a:ext cx="457200" cy="274320"/>
          </a:xfrm>
          <a:prstGeom prst="can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5394960"/>
            <a:ext cx="5029200" cy="822960"/>
          </a:xfrm>
          <a:prstGeom prst="rect">
            <a:avLst/>
          </a:prstGeom>
          <a:solidFill>
            <a:srgbClr val="444444"/>
          </a:solidFill>
          <a:ln>
            <a:solidFill>
              <a:srgbClr val="245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输出 out（INOUT）</a:t>
            </a:r>
          </a:p>
          <a:p>
            <a:r>
              <a:rPr sz="1200" b="0">
                <a:solidFill>
                  <a:srgbClr val="FFFFFF"/>
                </a:solidFill>
                <a:latin typeface="PingFang SC"/>
              </a:rPr>
              <a:t>padding 行显式清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4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关键优化 ①：A 操作数 fragment → shared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PingFang SC"/>
              </a:rPr>
              <a:t>单项收益 3.2×（26.8 → 87 TFLOPS），全部后续优化的根基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2E"/>
                </a:solidFill>
                <a:latin typeface="PingFang SC"/>
              </a:rPr>
              <a:t>TileLang 对 T.gemm 的 A 操作数默认分配 fragment（寄存器）。MACA 后端上</a:t>
            </a:r>
          </a:p>
          <a:p>
            <a:r>
              <a:rPr sz="1600" b="0">
                <a:solidFill>
                  <a:srgbClr val="1A1A2E"/>
                </a:solidFill>
                <a:latin typeface="PingFang SC"/>
              </a:rPr>
              <a:t>fragment 走寄存器搬运路径，MMA 吞吐仅 26.8 TFLOPS；改为 T.alloc_shared</a:t>
            </a:r>
          </a:p>
          <a:p>
            <a:r>
              <a:rPr sz="1600" b="1">
                <a:solidFill>
                  <a:srgbClr val="0E7A5F"/>
                </a:solidFill>
                <a:latin typeface="PingFang SC"/>
              </a:rPr>
              <a:t>后直接走 MFMA 原生供数路径 → 87 TFLOPS。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2E"/>
                </a:solidFill>
                <a:latin typeface="PingFang SC"/>
              </a:rPr>
              <a:t>配套改动（让 shared 供数持续饱和）：</a:t>
            </a:r>
          </a:p>
          <a:p>
            <a:r>
              <a:rPr sz="1500" b="0">
                <a:solidFill>
                  <a:srgbClr val="1A1A2E"/>
                </a:solidFill>
                <a:latin typeface="PingFang SC"/>
              </a:rPr>
              <a:t>· Gate/Up 双累加器融合（一次 x 加载服务两个 GEMM）</a:t>
            </a:r>
          </a:p>
          <a:p>
            <a:r>
              <a:rPr sz="1500" b="0">
                <a:solidFill>
                  <a:srgbClr val="1A1A2E"/>
                </a:solidFill>
                <a:latin typeface="PingFang SC"/>
              </a:rPr>
              <a:t>· 权重拷贝 coalesced_width=8 向量化</a:t>
            </a:r>
          </a:p>
          <a:p>
            <a:r>
              <a:rPr sz="1500" b="0">
                <a:solidFill>
                  <a:srgbClr val="1A1A2E"/>
                </a:solidFill>
                <a:latin typeface="PingFang SC"/>
              </a:rPr>
              <a:t>· use_swizzle(4, column) 块调度提升 L2 命中</a:t>
            </a:r>
          </a:p>
          <a:p>
            <a:r>
              <a:rPr sz="1500" b="0">
                <a:solidFill>
                  <a:srgbClr val="1A1A2E"/>
                </a:solidFill>
                <a:latin typeface="PingFang SC"/>
              </a:rPr>
              <a:t>· k_pack=2（hidden≥7000）的 MMA K-chunk 打包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4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关键优化 ②：per-shape JIT 分派 + 编译开关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PingFang SC"/>
              </a:rPr>
              <a:t>case2/3 约 9–11%，fast_math 等再 +1–2%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/>
                        <a:t>JIT 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适用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pass 配置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/>
                        <a:t>_moe_stage1_prefetch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H≥7000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关 warp-spec / safe-legalize / vec256；fast_math；ldgstg_predicated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/>
                        <a:t>_moe_stage2_fast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H≥7000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同上（五项）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/>
                        <a:t>_moe_stage1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H&lt;7000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关 warp-spec / safe-legalize / vec256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/>
                        <a:t>_moe_stage2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H&lt;7000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仅关 warp-spec（case1 最敏感路径保守处理）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2E"/>
                </a:solidFill>
                <a:latin typeface="PingFang SC"/>
              </a:rPr>
              <a:t>依据：正式 shape 全部整除、token 已 padding 至 128，默认 safe-memory pass 因动态</a:t>
            </a:r>
          </a:p>
          <a:p>
            <a:r>
              <a:rPr sz="1500" b="0">
                <a:solidFill>
                  <a:srgbClr val="1A1A2E"/>
                </a:solidFill>
                <a:latin typeface="PingFang SC"/>
              </a:rPr>
              <a:t>expert 索引无法静态证明而生成大量冗余谓词 —— 关闭后 case2/3 +9~11%。</a:t>
            </a:r>
          </a:p>
          <a:p>
            <a:r>
              <a:rPr sz="1500" b="1">
                <a:solidFill>
                  <a:srgbClr val="0E7A5F"/>
                </a:solidFill>
                <a:latin typeface="PingFang SC"/>
              </a:rPr>
              <a:t>enable_fast_math（SwiGLU exp2/除法）与 lower_ldgstg_predicated 再 +1~2%，三 case 一致。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4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关键优化 ③④：case1 分派全开 + Up 预取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PingFang SC"/>
              </a:rPr>
              <a:t>case1 -6.8%（OJ 兑现本地预测 -7%）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2E"/>
                </a:solidFill>
                <a:latin typeface="PingFang SC"/>
              </a:rPr>
              <a:t>分派全开：早期 case1 保守走无预取/带 safe-pass 的 kernel；本地验证推翻</a:t>
            </a:r>
          </a:p>
          <a:p>
            <a:r>
              <a:rPr sz="1600" b="1">
                <a:solidFill>
                  <a:srgbClr val="0E7A5F"/>
                </a:solidFill>
                <a:latin typeface="PingFang SC"/>
              </a:rPr>
              <a:t>“case1 敏感”假设 —— prefetch + fast-pass 同样适用，OJ 2.99 → 2.789 ms。</a:t>
            </a:r>
          </a:p>
          <a:p>
            <a:r>
              <a:rPr sz="1600" b="0">
                <a:solidFill>
                  <a:srgbClr val="1A1A2E"/>
                </a:solidFill>
                <a:latin typeface="PingFang SC"/>
              </a:rPr>
              <a:t>Up 寄存器预取：Up 面板 global load 与 Gate MMA 无数据依赖，先发射 LDG</a:t>
            </a:r>
          </a:p>
          <a:p>
            <a:r>
              <a:rPr sz="1600" b="0">
                <a:solidFill>
                  <a:srgbClr val="1A1A2E"/>
                </a:solidFill>
                <a:latin typeface="PingFang SC"/>
              </a:rPr>
              <a:t>使延迟被 Gate MMA 覆盖 —— 仅用指令级并行，无 async/BSM（赛题禁止）。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A03030"/>
                </a:solidFill>
                <a:latin typeface="PingFang SC"/>
              </a:rPr>
              <a:t>正确性护栏（踩坑换来的铁律）：</a:t>
            </a:r>
          </a:p>
          <a:p>
            <a:r>
              <a:rPr sz="1400" b="0">
                <a:solidFill>
                  <a:srgbClr val="1A1A2E"/>
                </a:solidFill>
                <a:latin typeface="PingFang SC"/>
              </a:rPr>
              <a:t>· 尾块 epilogue 一律 if/else 显式写 0 —— fp16 工作区 padding 行残留位型时，</a:t>
            </a:r>
          </a:p>
          <a:p>
            <a:r>
              <a:rPr sz="1400" b="0">
                <a:solidFill>
                  <a:srgbClr val="1A1A2E"/>
                </a:solidFill>
                <a:latin typeface="PingFang SC"/>
              </a:rPr>
              <a:t>· 「无效行 × 0」会产生 NaN×0=NaN 污染输出（IEEE 754）；</a:t>
            </a:r>
          </a:p>
          <a:p>
            <a:r>
              <a:rPr sz="1400" b="0">
                <a:solidFill>
                  <a:srgbClr val="1A1A2E"/>
                </a:solidFill>
                <a:latin typeface="PingFang SC"/>
              </a:rPr>
              <a:t>· up_logits 工作区跨调用仅作 scratch，内容每次全量重算，无跨调用依赖。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4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Roofline 分析：三 case 分别触及计算墙/内存墙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PingFang SC"/>
              </a:rPr>
              <a:t>实测口径（d2d copy 1.44 TB/s；同规模 dense GEMM 计算峰值）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/>
                        <a:t>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实测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屋顶线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利用率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/>
                        <a:t>case1 Stage1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108 TFLOPS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fp16 MMA 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~94% 计算受限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/>
                        <a:t>case3 Stage2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1.30 TB/s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1.44 TB/s (d2d copy)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90% 内存受限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/>
                        <a:t>case2 Stage1/2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1.12 TB/s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同上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~78%，受网格形状限制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2E"/>
                </a:solidFill>
                <a:latin typeface="PingFang SC"/>
              </a:rPr>
              <a:t>结论：三 case 分别触及计算墙/内存墙。剩余空间需要 sub-tile GEMM、</a:t>
            </a:r>
          </a:p>
          <a:p>
            <a:r>
              <a:rPr sz="1600" b="1">
                <a:solidFill>
                  <a:srgbClr val="0E7A5F"/>
                </a:solidFill>
                <a:latin typeface="PingFang SC"/>
              </a:rPr>
              <a:t>cp.async 或硬件级改动 —— 当前 tilelang-metax 版本（f549117c）不提供。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4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负结果与机制解释（45+ 变体的工程教训）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PingFang SC"/>
              </a:rPr>
              <a:t>全部有实验数据支撑，避免后人重复踩坑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A03030"/>
                </a:solidFill>
                <a:latin typeface="PingFang SC"/>
              </a:rPr>
              <a:t>✗ Pipelined 双缓冲</a:t>
            </a:r>
          </a:p>
          <a:p>
            <a:r>
              <a:rPr sz="1300" b="0">
                <a:solidFill>
                  <a:srgbClr val="555555"/>
                </a:solidFill>
                <a:latin typeface="PingFang SC"/>
              </a:rPr>
              <a:t>    MACA 无 cp.async → 三次实测 -20% 以上，纯开销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756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A03030"/>
                </a:solidFill>
                <a:latin typeface="PingFang SC"/>
              </a:rPr>
              <a:t>✗ 手工软件流水 ×4</a:t>
            </a:r>
          </a:p>
          <a:p>
            <a:r>
              <a:rPr sz="1300" b="0">
                <a:solidFill>
                  <a:srgbClr val="555555"/>
                </a:solidFill>
                <a:latin typeface="PingFang SC"/>
              </a:rPr>
              <a:t>    T.copy/T.gemm 抽象层每操作固定开销 &gt; 延迟隐藏收益（最好持平，最差 -28%）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16936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A03030"/>
                </a:solidFill>
                <a:latin typeface="PingFang SC"/>
              </a:rPr>
              <a:t>✗ 块内 M 切分跳过 padding</a:t>
            </a:r>
          </a:p>
          <a:p>
            <a:r>
              <a:rPr sz="1300" b="0">
                <a:solidFill>
                  <a:srgbClr val="555555"/>
                </a:solidFill>
                <a:latin typeface="PingFang SC"/>
              </a:rPr>
              <a:t>    gemm 数量翻倍的固定开销 &gt; 尾块跳过收益（+9~13%）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5818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A03030"/>
                </a:solidFill>
                <a:latin typeface="PingFang SC"/>
              </a:rPr>
              <a:t>✗ bt=64 细分块</a:t>
            </a:r>
          </a:p>
          <a:p>
            <a:r>
              <a:rPr sz="1300" b="0">
                <a:solidFill>
                  <a:srgbClr val="555555"/>
                </a:solidFill>
                <a:latin typeface="PingFang SC"/>
              </a:rPr>
              <a:t>    权重面板每 FLOP 流量翻倍（8MB L2 无法覆盖），-44%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994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A03030"/>
                </a:solidFill>
                <a:latin typeface="PingFang SC"/>
              </a:rPr>
              <a:t>✗ Down 权重 INT8/INT16</a:t>
            </a:r>
          </a:p>
          <a:p>
            <a:r>
              <a:rPr sz="1300" b="0">
                <a:solidFill>
                  <a:srgbClr val="555555"/>
                </a:solidFill>
                <a:latin typeface="PingFang SC"/>
              </a:rPr>
              <a:t>    OJ 轮换同 shape 权重 → 跨调用缓存不合法；每调用重打包流量反超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A03030"/>
                </a:solidFill>
                <a:latin typeface="PingFang SC"/>
              </a:rPr>
              <a:t>✗ NaN × 0 污染</a:t>
            </a:r>
          </a:p>
          <a:p>
            <a:r>
              <a:rPr sz="1300" b="0">
                <a:solidFill>
                  <a:srgbClr val="555555"/>
                </a:solidFill>
                <a:latin typeface="PingFang SC"/>
              </a:rPr>
              <a:t>    工作区 padding 行垃圾位型 → 尾块显式写 0 铁律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4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合规性：对照官方八条禁令逐项静态审计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PingFang SC"/>
              </a:rPr>
              <a:t>审计对象：最终提交源码 submission.py（v432）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2E"/>
                </a:solidFill>
                <a:latin typeface="PingFang SC"/>
              </a:rPr>
              <a:t>① 绕过 TileLang 执行设备 Kernel —— 无（全部由 T.gemm/T.copy 生成）</a:t>
            </a:r>
          </a:p>
          <a:p>
            <a:r>
              <a:rPr sz="1600" b="0">
                <a:solidFill>
                  <a:srgbClr val="1A1A2E"/>
                </a:solidFill>
                <a:latin typeface="PingFang SC"/>
              </a:rPr>
              <a:t>② PyTorch 完成核心计算 —— 无（torch 仅 empty 工作区分配 + dtype 判断）</a:t>
            </a:r>
          </a:p>
          <a:p>
            <a:r>
              <a:rPr sz="1600" b="0">
                <a:solidFill>
                  <a:srgbClr val="1A1A2E"/>
                </a:solidFill>
                <a:latin typeface="PingFang SC"/>
              </a:rPr>
              <a:t>③ Host-Device 异步拷贝 —— 无</a:t>
            </a:r>
          </a:p>
          <a:p>
            <a:r>
              <a:rPr sz="1600" b="0">
                <a:solidFill>
                  <a:srgbClr val="1A1A2E"/>
                </a:solidFill>
                <a:latin typeface="PingFang SC"/>
              </a:rPr>
              <a:t>④ 跨调用缓存/回放结果 —— 无（工作区每次全量重算，JIT 缓存仅为编译产物）</a:t>
            </a:r>
          </a:p>
          <a:p>
            <a:r>
              <a:rPr sz="1600" b="0">
                <a:solidFill>
                  <a:srgbClr val="1A1A2E"/>
                </a:solidFill>
                <a:latin typeface="PingFang SC"/>
              </a:rPr>
              <a:t>⑤ testcase/生命周期硬编码 —— 无</a:t>
            </a:r>
          </a:p>
          <a:p>
            <a:r>
              <a:rPr sz="1600" b="0">
                <a:solidFill>
                  <a:srgbClr val="1A1A2E"/>
                </a:solidFill>
                <a:latin typeface="PingFang SC"/>
              </a:rPr>
              <a:t>⑥⑦ T.import_source / T.call_extern —— 无　⑧ mcTlass 等外部库 —— 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E7A5F"/>
                </a:solidFill>
                <a:latin typeface="PingFang SC"/>
              </a:rPr>
              <a:t>import 清单：tilelang、torch</a:t>
            </a:r>
          </a:p>
          <a:p>
            <a:r>
              <a:rPr sz="1400" b="0">
                <a:solidFill>
                  <a:srgbClr val="1A1A2E"/>
                </a:solidFill>
                <a:latin typeface="PingFang SC"/>
              </a:rPr>
              <a:t>TileLang API：Kernel/Parallel/Pipelined/Tensor/alloc_shared/alloc_fragment/copy/</a:t>
            </a:r>
          </a:p>
          <a:p>
            <a:r>
              <a:rPr sz="1400" b="0">
                <a:solidFill>
                  <a:srgbClr val="1A1A2E"/>
                </a:solidFill>
                <a:latin typeface="PingFang SC"/>
              </a:rPr>
              <a:t>gemm/sync_threads/use_swizzle/exp2/if_then_else/…（全部为官方 DSL 合法面）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4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复现指南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PingFang SC"/>
              </a:rPr>
              <a:t>详见源代码包 README.md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2E"/>
                </a:solidFill>
                <a:latin typeface="PingFang SC"/>
              </a:rPr>
              <a:t>环境：C500 GPU + MACA 3.7.x + tilelang-metax v0.1.10 + PyTorch 2.8.0+metax + Python 3.12</a:t>
            </a:r>
          </a:p>
          <a:p/>
          <a:p>
            <a:r>
              <a:rPr sz="1500" b="0">
                <a:solidFill>
                  <a:srgbClr val="1A1A2E"/>
                </a:solidFill>
                <a:latin typeface="PingFang SC"/>
              </a:rPr>
              <a:t>功能+性能基准（fp32 参考对照 rtol/atol=0.05；CUDA event 计时 warmup10+100iters）：</a:t>
            </a:r>
          </a:p>
          <a:p>
            <a:r>
              <a:rPr sz="1500" b="1">
                <a:solidFill>
                  <a:srgbClr val="0E7A5F"/>
                </a:solidFill>
                <a:latin typeface="PingFang SC"/>
              </a:rPr>
              <a:t>    python3 benchmark/bench23.py submission.py v432 1,2,3</a:t>
            </a:r>
          </a:p>
          <a:p/>
          <a:p>
            <a:r>
              <a:rPr sz="1500" b="0">
                <a:solidFill>
                  <a:srgbClr val="1A1A2E"/>
                </a:solidFill>
                <a:latin typeface="PingFang SC"/>
              </a:rPr>
              <a:t>正确性压力测试（随机 expert 分布 × 随机 seed，32/32 通过）：</a:t>
            </a:r>
          </a:p>
          <a:p>
            <a:r>
              <a:rPr sz="1500" b="1">
                <a:solidFill>
                  <a:srgbClr val="0E7A5F"/>
                </a:solidFill>
                <a:latin typeface="PingFang SC"/>
              </a:rPr>
              <a:t>    ./benchmark/race_loop.sh  submission.py cand 20</a:t>
            </a:r>
          </a:p>
          <a:p>
            <a:r>
              <a:rPr sz="1500" b="1">
                <a:solidFill>
                  <a:srgbClr val="0E7A5F"/>
                </a:solidFill>
                <a:latin typeface="PingFang SC"/>
              </a:rPr>
              <a:t>    ./benchmark/race_loop2.sh submission.py cand 2 6</a:t>
            </a:r>
          </a:p>
          <a:p>
            <a:r>
              <a:rPr sz="1500" b="1">
                <a:solidFill>
                  <a:srgbClr val="0E7A5F"/>
                </a:solidFill>
                <a:latin typeface="PingFang SC"/>
              </a:rPr>
              <a:t>    ./benchmark/race_loop2.sh submission.py cand 3 6</a:t>
            </a:r>
          </a:p>
          <a:p/>
          <a:p>
            <a:r>
              <a:rPr sz="1500" b="0">
                <a:solidFill>
                  <a:srgbClr val="1A1A2E"/>
                </a:solidFill>
                <a:latin typeface="PingFang SC"/>
              </a:rPr>
              <a:t>分 Stage 计时（profile）：</a:t>
            </a:r>
          </a:p>
          <a:p>
            <a:r>
              <a:rPr sz="1500" b="1">
                <a:solidFill>
                  <a:srgbClr val="0E7A5F"/>
                </a:solidFill>
                <a:latin typeface="PingFang SC"/>
              </a:rPr>
              <a:t>    python3 benchmark/stage_split.py submission.py v432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FB4E8"/>
                </a:solidFill>
                <a:latin typeface="PingFang SC"/>
              </a:rPr>
              <a:t>总结</a:t>
            </a:r>
          </a:p>
          <a:p>
            <a:r>
              <a:rPr sz="2100" b="0">
                <a:solidFill>
                  <a:srgbClr val="FFFFFF"/>
                </a:solidFill>
                <a:latin typeface="PingFang SC"/>
              </a:rPr>
              <a:t>· 三 case 全部触及 roofline（计算墙 94% / 内存墙 90%）</a:t>
            </a:r>
          </a:p>
          <a:p>
            <a:r>
              <a:rPr sz="2100" b="0">
                <a:solidFill>
                  <a:srgbClr val="FFFFFF"/>
                </a:solidFill>
                <a:latin typeface="PingFang SC"/>
              </a:rPr>
              <a:t>· 45+ 变体实验、十个优化维度全部穷尽并有机制解释</a:t>
            </a:r>
          </a:p>
          <a:p>
            <a:r>
              <a:rPr sz="2100" b="0">
                <a:solidFill>
                  <a:srgbClr val="FFFFFF"/>
                </a:solidFill>
                <a:latin typeface="PingFang SC"/>
              </a:rPr>
              <a:t>· 全部实现合法合规：TileLang DSL + 同步访存 + MFMA（经 T.gemm）</a:t>
            </a:r>
          </a:p>
          <a:p>
            <a:r>
              <a:rPr sz="2100" b="1">
                <a:solidFill>
                  <a:srgbClr val="6EE7B7"/>
                </a:solidFill>
                <a:latin typeface="PingFang SC"/>
              </a:rPr>
              <a:t>· XPU-OJ 78.67 分 · Accepted 135985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88899"/>
                </a:solidFill>
                <a:latin typeface="PingFang SC"/>
              </a:rPr>
              <a:t>谢谢评审专家指导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